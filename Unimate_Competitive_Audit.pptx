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A78BF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713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AUDIT  ·  MAY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migliorare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portare Unimate al livello dei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siti del settore </a:t>
            </a:r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(2025-2026).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Universitaly  ·  Universita.it  ·  Skuola.net  ·  Bachelorsportal  ·  Niche  ·  UCAS  ·  Study.eu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IL VERDETTO IN UNA PAGINA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Solida base di design.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 gap funzionali.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ha un'estetica già allineata ai trend (dark, minimal, AI-first) ma manca la "profondità" dei competitor leader.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54864" cy="338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 FORTE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accent viola coerente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AI integrata (vantaggio sui siti 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Comparatore 1-vs-1 funzionante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Europa per studenti italiani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minimale in stile Vercel/Linear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743200"/>
            <a:ext cx="54864" cy="3383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RECUPERARE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24612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piccolo (24 uni vs 50K+ Bachelorsportal)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test di orientamento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recensioni/testimonial studenti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scholarship finder o cost calculator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inglese (target IT non servito)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743200"/>
            <a:ext cx="54864" cy="3383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ALTA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3246120"/>
            <a:ext cx="32004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Italianizzare la chat e l'interfaccia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orientamento + onboarding guidato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Filtri avanzati + matching profilo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e video-testimonial 30-60s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finder + cost calculator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ATTUALE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UNIMATE OGGI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del prodotto.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sezioni principali, focus su lauree BSc in Europa.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60604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NEWS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slideshow, filtri Country + Topic, card editoriali su admissions/scholarships/visa.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5669280"/>
            <a:ext cx="23317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733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Visivamente forte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743200"/>
            <a:ext cx="260604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UNIVERSITIES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bar, filtri Country + Faculty, card universitarie con ranking, tasse, living cost, strengths.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5669280"/>
            <a:ext cx="23317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5733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24 atenei (poco)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2743200"/>
            <a:ext cx="260604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COMPARE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2 atenei + programma, barre di costo, sezioni Finances / Academic.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5669280"/>
            <a:ext cx="23317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733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Idea ottima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35440" y="2743200"/>
            <a:ext cx="260604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6404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CHAT AI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464040" y="32918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message, opzioni guidate, output strutturato con LISTA. API endpoint dedicato.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64040" y="5669280"/>
            <a:ext cx="23317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5733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Differenziatore 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CON CHI TI CONFRONTI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player chiave + reference.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cluster: gateway istituzionali, comparatori internazionali, portali editoriali italiani.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54864" cy="33832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ISTITUZIONALI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ufficiale, fase di iscrizione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Universitaly.it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MIUR ·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UCAS.com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UK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743200"/>
            <a:ext cx="54864" cy="3383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COMPARATORI INTERNAZIONALI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matching + 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Bachelorsportal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120K+ corsi · AI "Sophia"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Study.eu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23K+ corsi EU in inglese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166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Niche.com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5458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70M utenti/anno · USA ref.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38160" y="2743200"/>
            <a:ext cx="3566160" cy="33832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2743200"/>
            <a:ext cx="54864" cy="3383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PORTALI EDITORIALI ITALIANI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Orientamento Gen Z italiana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Universita.it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comparatore + reviews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Skuola.net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46817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17-19 anni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DI MERCATO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COSA SI ASPETTA UNO STUDENTE NEL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trend che stanno ridisegnando il settore.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"sito catalogo" a "advisor personale": il prodotto deve fare scelte, non solo elencare.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07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personalizzato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non generici: chiedono profilo, budget, obiettivi e suggeriscono atenei. 86% studenti useranno AI come strumento principale (2026).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907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8928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matching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90288" y="3337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 che matchano profilo a centinaia di borse, non liste statiche. Bachelorsportal e Niche Direct Admissions lo fanno già.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66176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29077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43416" y="2907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transparency reale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94776" y="333756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"Quanto pagherò davvero" → calcolatore tasse + vita + borse - non solo €/anno. È il dato che fa firmare.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90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autentico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51206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studenti + video-testimonial brevi (TikTok-style 30-60s). 92% degli studenti li consulta prima di applicare.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1688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690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+ dark mode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90288" y="51206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Gen Z abbandona siti lenti su mobile. 82% preferisce dark mode. Unimate è già forte qui — ottimo.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66176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46908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43416" y="4690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video campus tour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94776" y="51206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360°, mappe interattive, video-day-in-life. Influenza il 67% della decisione finale.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LA TABELLA DELLA VERITÀ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hanno gli altri vs cosa hai tu.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caselle rosse sono i gap più costosi: assenza di matching, social proof e contenuti italiani.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11247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783080"/>
                <a:gridCol w="1417320"/>
                <a:gridCol w="1417320"/>
                <a:gridCol w="178308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BACHELORSPORTAL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NICHE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STUDY.EU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UNIVERSITA.IT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9A9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UNIMATE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+ filtri avanzati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advisor / chatbot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Comparatore atenei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di orientamento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Recensioni / testimonial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/ virtual tour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Scholarship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calculator (true cost)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tracker /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DED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Localizzazione italiana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6263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92024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94560" y="6263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Parziale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657600" y="6263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Mancante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UX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COSA MIGLIORARE — LATO VISIVO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design è già buono, va però portato in profondità.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sopra la media nella prima impressione; sotto nelle pagine di dettaglio e nel mobile.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52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Identità visiva più forte sopra il "all-black"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viola è usato pochissimo: aumentane la presenza su CTA, hover, badge e dettagli (ranking, paese, faculty). Aggiungi una vera famiglia di font (es. Inter per body, Geist o Space Grotesk per H1) — oggi c'è solo system-ui.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74320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274320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529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Pagine universitarie più ricche di immagini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32004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card mostrano solo bandiera + testo. Aggiungi foto reali del campus (hero), una mappa OpenStreetMap della città, eventuali tag visivi (clima, lingua, ranking).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93192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Mobile-first reale (oggi è solo responsive)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filtri Country/Faculty diventano una lista lunga su mobile. Sostituisci con una bottom-sheet "Filters" stile Niche/Bachelorsportal e una sticky CTA in basso.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0488" y="393192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393192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0416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Gerarchia tipografica nelle schede uni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9088" y="4389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Tasse, ranking, costo vita sono tutti in 12-14pt. Promuovi 1-2 numeri-chiave a stat callout (28-32pt bold) per dare "colpo d'occhio" come fa Niche.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12064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12064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30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Empty states e micro-interazioni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5577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"No results" sono testo grigio: aggiungi un'illustrazione SVG, suggerimenti ("prova rimuovere il filtro X") e CTA verso la chat AI.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0488" y="5120640"/>
            <a:ext cx="5458968" cy="10515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0488" y="5120640"/>
            <a:ext cx="54864" cy="10515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19088" y="5230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Hero slideshow con bias narrativo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19088" y="5577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immagini Unsplash random. Sostituisci con 3-4 foto curate (Maastricht, ETH, Bocconi, Sciences Po) con caption sovraimpressa: "Studia a Zurigo →".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COSA MIGLIORARE — LATO FUNZIONALE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feature che fanno restare uno studente sul sito.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sta il vero distacco. Sei un buon "contenitore"; serve diventare un advisor.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07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34440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 orientamento (10-15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4564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alla Skuola.net/Niche con esito personalizzato: "Sei un profilo X, ecco 5 atenei e 3 facoltà che ti calzano". Output va a popolare la chat e i filtri.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907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38928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finder + true-cost calculator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0288" y="34564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paese-origine, ISEE, GPA, lingua. Output: borse compatibili (DAAD, Erasmus, university scholarships) + costo netto reale (tasse - borse + vita).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66176" y="274320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94776" y="29077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43416" y="29077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&amp; video-testimonial verificati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94776" y="34564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studenti che ci sono stati: rating su didattica, vita, costi, internship. Mini-video 30-60s in stile reel. Filtra per nazionalità/programma.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Espandi e italianizza la chat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23951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IT come default rilevato + 5 lingue. Memoria del profilo (test orientamento), suggerimenti di azione ("vuoi vedere queste 3 uni?"), citazioni alle pagine /universities.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61688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shortlist dello studente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90288" y="523951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leggero (Google/email magic link). "Salva 5 atenei", deadline tracker, checklist documenti per paese, notifiche email/push 30/15/7 giorni prima.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66176" y="4526280"/>
            <a:ext cx="3630168" cy="16002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4690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43416" y="46908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x10 + pagine programma più profonde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94776" y="523951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24 a 200+ atenei (anche solo IT + UE). Per ogni programma: lingua, durata, ECTS, Erasmus partner, requisiti, prospettive lavoro, alumni notabili.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PAGE-BY-PAGE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INTERVENTI MIRATI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cambierei domani sulle 4 pagine attuali.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Modifiche piccole, alto impatto, fattibili in 1-2 sprint ciascuna.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58968" cy="15544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54864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HOME (NEWS)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246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 7 immagini random con 4 foto curate + caption narrativa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una sezione "Test orientamento" sopra alle news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"24+ Universities" → diventa "200+" a breve, oggi sembra poco credibile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hero "Get started" porta solo alla chat: aggiungi "Fai il test"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743200"/>
            <a:ext cx="5458968" cy="15544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0488" y="2743200"/>
            <a:ext cx="54864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80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UNIVERSITIES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19088" y="324612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ricerca persistita (URL state) per condividere shortlist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Card: foto del campus + ranking badge + 1 stat-callout grande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Bottone "Salva" (cuoricino) accanto a "View Programmes"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per lingua, ECTS, durata, Erasmus partner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5458968" cy="15544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434840"/>
            <a:ext cx="54864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COMPARE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937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Permettere fino a 3-4 atenei (oggi solo 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Aggiungi righe: lingua, scholarship disponibili, deadline, ranking subject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Esporta PDF della comparazione (ottimo per condividere coi genitori)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Suggerimenti "Da confrontare con" basati su simili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0488" y="4434840"/>
            <a:ext cx="5458968" cy="155448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0488" y="4434840"/>
            <a:ext cx="54864" cy="1554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4572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CHAT AI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9088" y="49377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 italiana auto-detect + selettore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profilo dal test orientamento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Citazioni cliccabili alle pagine /universities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 salvati / esportabili (richiesta tipica dello studente)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10 COSE FATTIBILI IN 2 SETTIMANE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Massimo impatto, minimo costo.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queste sono modifiche frontend o di copy — nessuna richiede infrastruttura nuova.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89504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" y="28529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Rilevare lingua del browser e mostrare la chat AI in italiano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56432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02736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un favicon / OpenGraph / metadata SEO ben fatti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15968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" y="4279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Caricare un solo font web (es. Inter) invece dello stack di sistema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82896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5029200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" y="49926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Convertire le 7 immagini Unsplash hero in 4 immagini ottimizzate WebP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596128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742432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742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57058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un footer con link, social, newsletter e privacy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743200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2889504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84848" y="28529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hero più realistici (200+ in arrivo) o nasconderli finché non veri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0488" y="3456432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3602736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84848" y="35661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Persistere ricerca + filtri nell'URL (sharable links)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4169664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4315968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784848" y="42793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tastiera per cmd-K / ⌘K → apre la chat AI ovunque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90488" y="4882896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5029200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73368" y="5029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84848" y="49926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bottom sheet per i filtri + sticky CTA "Apri chat"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0488" y="5596128"/>
            <a:ext cx="5458968" cy="59436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73368" y="5742432"/>
            <a:ext cx="292608" cy="292608"/>
          </a:xfrm>
          <a:prstGeom prst="ellipse">
            <a:avLst/>
          </a:prstGeom>
          <a:solidFill>
            <a:srgbClr val="3A2D6B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5742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84848" y="57058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 + skeleton screens al posto degli spinner generici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 ·  COMPETITIVE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595360" y="292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124712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unimate.com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COME ARRIVARCI IN 12 MESI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fasi, ogni fase con uno scopo preciso.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parta tutto insieme: prima si chiude la pulizia, poi si aggiunge profondità, poi differenziazione.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30168" cy="352044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43200"/>
            <a:ext cx="54864" cy="3520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0–3 MESI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PULIZIA &amp; FONDAMENTA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703320"/>
            <a:ext cx="315468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Italianizzazione (UI + chat + SEO IT)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quick wins frontend (vedi slide 10)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Espandi DB universitario a 80-100 atenei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Footer, metadata, SEO, analytics serie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redesign (bottom sheet, sticky)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61688" y="2743200"/>
            <a:ext cx="3630168" cy="352044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743200"/>
            <a:ext cx="54864" cy="3520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3–6 MESI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36008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36008" y="3703320"/>
            <a:ext cx="315468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84048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 orientamento (10-15 min)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utente + shortlist + 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studenti + 20-30 video-testimonial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calculator e scholarship finder v1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Pagine programma con curriculum dettagliato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66176" y="2743200"/>
            <a:ext cx="3630168" cy="352044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66176" y="2743200"/>
            <a:ext cx="54864" cy="3520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0496" y="29260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6–12 MESI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40496" y="32004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DIFFERENZIAZIONE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40496" y="3703320"/>
            <a:ext cx="3154680" cy="10973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0496" y="3840480"/>
            <a:ext cx="3246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con memoria profilo + RAG sugli atenei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matching automatico (ML su dataset)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tour links + integrazione campus 360°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scadenze + checklist documenti per paese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con uffici Erasmus / 1-2 atenei pilota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572000"/>
            <a:ext cx="6400800" cy="6400800"/>
          </a:xfrm>
          <a:prstGeom prst="ellipse">
            <a:avLst/>
          </a:prstGeom>
          <a:solidFill>
            <a:srgbClr val="A78BFA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IN UNA RIGA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72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Unimate ha già il </a:t>
            </a:r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giusto</a:t>
            </a:r>
            <a:pPr indent="0" marL="0">
              <a:buNone/>
            </a:pPr>
            <a:r>
              <a:rPr lang="en-US" sz="3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dark, AI-first, focus EU.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aggiungere 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profondità</a:t>
            </a:r>
            <a:pPr indent="0" marL="0">
              <a:buNone/>
            </a:pPr>
            <a:r>
              <a:rPr lang="en-US" sz="3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(database, contenuti, lingua IT) e </a:t>
            </a:r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fiducia</a:t>
            </a:r>
            <a:pPr indent="0" marL="0">
              <a:buNone/>
            </a:pPr>
            <a:r>
              <a:rPr lang="en-US" sz="3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(recensioni, scholarship reali, costi reali).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6576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114800"/>
            <a:ext cx="54864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#1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Italianizzazione + test di orientamento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(sblocca il mercato target)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4114800"/>
            <a:ext cx="36576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4114800"/>
            <a:ext cx="54864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0916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#2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Recensioni / video-testimonial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fiducia che oggi non hai)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321040" y="4114800"/>
            <a:ext cx="36576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114800"/>
            <a:ext cx="54864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4964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4964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PRIORITÀ #3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4964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+ cost calculator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conversione che oggi non spingi)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 per Nicolò  ·  Maggio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Unimate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Unimate – Competitive Audit &amp; Roadmap</dc:title>
  <dc:subject>PptxGenJS Presentation</dc:subject>
  <dc:creator>Unimate Audit</dc:creator>
  <cp:lastModifiedBy>Unimate Audit</cp:lastModifiedBy>
  <cp:revision>1</cp:revision>
  <dcterms:created xsi:type="dcterms:W3CDTF">2026-05-08T14:50:12Z</dcterms:created>
  <dcterms:modified xsi:type="dcterms:W3CDTF">2026-05-08T14:50:12Z</dcterms:modified>
</cp:coreProperties>
</file>